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grandir Wide Bold" charset="1" panose="00000805000000000000"/>
      <p:regular r:id="rId19"/>
    </p:embeddedFont>
    <p:embeddedFont>
      <p:font typeface="Nunito 1" charset="1" panose="00000000000000000000"/>
      <p:regular r:id="rId20"/>
    </p:embeddedFont>
    <p:embeddedFont>
      <p:font typeface="Nunito 1 Bold" charset="1" panose="00000000000000000000"/>
      <p:regular r:id="rId21"/>
    </p:embeddedFont>
    <p:embeddedFont>
      <p:font typeface="Nunito 1 Italics" charset="1" panose="00000000000000000000"/>
      <p:regular r:id="rId22"/>
    </p:embeddedFont>
    <p:embeddedFont>
      <p:font typeface="Nunito 2 Bold" charset="1" panose="00000800000000000000"/>
      <p:regular r:id="rId23"/>
    </p:embeddedFont>
    <p:embeddedFont>
      <p:font typeface="Nunito 2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91055"/>
            <a:ext cx="10208996" cy="261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32"/>
              </a:lnSpc>
            </a:pPr>
            <a:r>
              <a:rPr lang="en-US" b="true" sz="4326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ZIGBEE AND LOW-POWER WIRELESS NETWORKS: ARCHITECTURE, APPLICATIONS, AND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935800"/>
            <a:ext cx="7930637" cy="32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9"/>
              </a:lnSpc>
            </a:pPr>
            <a:r>
              <a:rPr lang="en-US" sz="1928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Department of Electronic Engineering, Hochschule Hamm-Lippstadt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43180"/>
            <a:ext cx="9117020" cy="438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4"/>
              </a:lnSpc>
            </a:pPr>
            <a:r>
              <a:rPr lang="en-US" sz="2596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Md. Sayeed Anwar Seam, Mir Sharjil Hasan, Saracini Kleivi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649801"/>
            <a:ext cx="7561002" cy="113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8"/>
              </a:lnSpc>
            </a:pPr>
            <a:r>
              <a:rPr lang="en-US" b="true" sz="6507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98076"/>
            <a:ext cx="7561002" cy="275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Rapid growth of the Internet of Things (IoT)</a:t>
            </a:r>
          </a:p>
          <a:p>
            <a:pPr algn="just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Need for energy-efficient wireless communication</a:t>
            </a:r>
          </a:p>
          <a:p>
            <a:pPr algn="just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Wi-Fi limitations for battery-powered devices</a:t>
            </a:r>
          </a:p>
          <a:p>
            <a:pPr algn="just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ZigBee as a low-power wireless alternative</a:t>
            </a:r>
          </a:p>
          <a:p>
            <a:pPr algn="just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Objective: Explore ZigBee architecture, applications &amp; challenges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4000" y="3140205"/>
            <a:ext cx="7627421" cy="4293707"/>
          </a:xfrm>
          <a:custGeom>
            <a:avLst/>
            <a:gdLst/>
            <a:ahLst/>
            <a:cxnLst/>
            <a:rect r="r" b="b" t="t" l="l"/>
            <a:pathLst>
              <a:path h="4293707" w="7627421">
                <a:moveTo>
                  <a:pt x="0" y="0"/>
                </a:moveTo>
                <a:lnTo>
                  <a:pt x="7627421" y="0"/>
                </a:lnTo>
                <a:lnTo>
                  <a:pt x="7627421" y="4293707"/>
                </a:lnTo>
                <a:lnTo>
                  <a:pt x="0" y="4293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1" t="0" r="-26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53536" y="7577674"/>
            <a:ext cx="340668" cy="38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  <a:r>
              <a:rPr lang="en-US" sz="1922" spc="105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[1]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21674" y="1390093"/>
            <a:ext cx="8115300" cy="127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9"/>
              </a:lnSpc>
            </a:pPr>
            <a:r>
              <a:rPr lang="en-US" b="true" sz="4034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LOW-POWER WIRELESS NETWORKS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92112"/>
            <a:ext cx="6305628" cy="17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Low power consumption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Long battery life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Low implementation cost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Mesh networking capability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Scalability for large deployments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6424" y="3792112"/>
            <a:ext cx="6305628" cy="17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Smart homes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Healthcare monitoring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Environmental monitoring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Industrial automation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Wireless Sensor Networks (WSNs)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97806"/>
            <a:ext cx="630562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Characteristics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6424" y="3097806"/>
            <a:ext cx="630562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Applications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91045" y="5943600"/>
            <a:ext cx="5091137" cy="2256142"/>
          </a:xfrm>
          <a:custGeom>
            <a:avLst/>
            <a:gdLst/>
            <a:ahLst/>
            <a:cxnLst/>
            <a:rect r="r" b="b" t="t" l="l"/>
            <a:pathLst>
              <a:path h="2256142" w="5091137">
                <a:moveTo>
                  <a:pt x="0" y="0"/>
                </a:moveTo>
                <a:lnTo>
                  <a:pt x="5091137" y="0"/>
                </a:lnTo>
                <a:lnTo>
                  <a:pt x="5091137" y="2256142"/>
                </a:lnTo>
                <a:lnTo>
                  <a:pt x="0" y="2256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" t="0" r="-8509" b="-197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06424" y="5943600"/>
            <a:ext cx="4907478" cy="2256142"/>
          </a:xfrm>
          <a:custGeom>
            <a:avLst/>
            <a:gdLst/>
            <a:ahLst/>
            <a:cxnLst/>
            <a:rect r="r" b="b" t="t" l="l"/>
            <a:pathLst>
              <a:path h="2256142" w="4907478">
                <a:moveTo>
                  <a:pt x="0" y="0"/>
                </a:moveTo>
                <a:lnTo>
                  <a:pt x="4907478" y="0"/>
                </a:lnTo>
                <a:lnTo>
                  <a:pt x="4907478" y="2256142"/>
                </a:lnTo>
                <a:lnTo>
                  <a:pt x="0" y="2256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94" r="0" b="-1365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63032" y="8342617"/>
            <a:ext cx="417165" cy="38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  <a:r>
              <a:rPr lang="en-US" sz="1922" spc="105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 [2]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19835" y="8342617"/>
            <a:ext cx="340668" cy="38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  <a:r>
              <a:rPr lang="en-US" sz="1922" spc="105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[3]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20000" y="7305675"/>
            <a:ext cx="8382000" cy="23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i="true" strike="noStrike" u="none">
                <a:solidFill>
                  <a:srgbClr val="303870"/>
                </a:solidFill>
                <a:latin typeface="Nunito 1 Italics"/>
                <a:ea typeface="Nunito 1 Italics"/>
                <a:cs typeface="Nunito 1 Italics"/>
                <a:sym typeface="Nunito 1 Italics"/>
              </a:rPr>
              <a:t>Figure: ZigBee Protocol Stack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929385" y="2331585"/>
            <a:ext cx="7125590" cy="7042734"/>
          </a:xfrm>
          <a:custGeom>
            <a:avLst/>
            <a:gdLst/>
            <a:ahLst/>
            <a:cxnLst/>
            <a:rect r="r" b="b" t="t" l="l"/>
            <a:pathLst>
              <a:path h="7042734" w="7125590">
                <a:moveTo>
                  <a:pt x="0" y="0"/>
                </a:moveTo>
                <a:lnTo>
                  <a:pt x="7125590" y="0"/>
                </a:lnTo>
                <a:lnTo>
                  <a:pt x="7125590" y="7042734"/>
                </a:lnTo>
                <a:lnTo>
                  <a:pt x="0" y="7042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7421" y="2833776"/>
            <a:ext cx="5905500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099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Protocol Layers: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Based on IEEE 802.15.4 standard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Physical (PHY) Layer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MAC Layer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Network (NWK) Layer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Application (APL) Layer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099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Key Features: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Mesh networking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Routing capabilities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Security mechanisms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Device interoperability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409700"/>
            <a:ext cx="8115300" cy="125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32"/>
              </a:lnSpc>
              <a:spcBef>
                <a:spcPct val="0"/>
              </a:spcBef>
            </a:pPr>
            <a:r>
              <a:rPr lang="en-US" b="true" sz="4029" strike="noStrike" u="non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ZIGBEE ARCHITECTURE &amp; IEEE 802.15.4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74073" y="9418349"/>
            <a:ext cx="340668" cy="38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  <a:r>
              <a:rPr lang="en-US" sz="1922" spc="105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[4]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95103" y="1540823"/>
            <a:ext cx="8704870" cy="161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01"/>
              </a:lnSpc>
              <a:spcBef>
                <a:spcPct val="0"/>
              </a:spcBef>
            </a:pPr>
            <a:r>
              <a:rPr lang="en-US" b="true" sz="5183" strike="noStrike" u="non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NETWORK TOPOLOGIES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48025"/>
            <a:ext cx="6685927" cy="39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Topology Types: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Star Topology – centralized communication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Tree Topology – hierarchical, extended range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Mesh Topology – decentralized, multi-path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Key Highlights: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Mesh enables self-healing networks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Reliable, redundant communication</a:t>
            </a:r>
          </a:p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Highly scalable for dense deployments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0037" y="7210425"/>
            <a:ext cx="7134225" cy="23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439" i="true" strike="noStrike" u="none">
                <a:solidFill>
                  <a:srgbClr val="303870"/>
                </a:solidFill>
                <a:latin typeface="Nunito 1 Italics"/>
                <a:ea typeface="Nunito 1 Italics"/>
                <a:cs typeface="Nunito 1 Italics"/>
                <a:sym typeface="Nunito 1 Italics"/>
              </a:rPr>
              <a:t>Figure: Star, Tree &amp; Mesh Topologies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468932" y="2122345"/>
            <a:ext cx="9350656" cy="4892054"/>
          </a:xfrm>
          <a:custGeom>
            <a:avLst/>
            <a:gdLst/>
            <a:ahLst/>
            <a:cxnLst/>
            <a:rect r="r" b="b" t="t" l="l"/>
            <a:pathLst>
              <a:path h="4892054" w="9350656">
                <a:moveTo>
                  <a:pt x="0" y="0"/>
                </a:moveTo>
                <a:lnTo>
                  <a:pt x="9350656" y="0"/>
                </a:lnTo>
                <a:lnTo>
                  <a:pt x="9350656" y="4892054"/>
                </a:lnTo>
                <a:lnTo>
                  <a:pt x="0" y="4892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0" t="0" r="-480" b="-210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72500" y="7403399"/>
            <a:ext cx="7134225" cy="23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439" i="true" strike="noStrike" u="none">
                <a:solidFill>
                  <a:srgbClr val="303870"/>
                </a:solidFill>
                <a:latin typeface="Nunito 1 Italics"/>
                <a:ea typeface="Nunito 1 Italics"/>
                <a:cs typeface="Nunito 1 Italics"/>
                <a:sym typeface="Nunito 1 Italics"/>
              </a:rPr>
              <a:t>Figure: ZigBee-enabled Smart Factory Monitoring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25640" y="2287237"/>
            <a:ext cx="9353550" cy="4895850"/>
          </a:xfrm>
          <a:custGeom>
            <a:avLst/>
            <a:gdLst/>
            <a:ahLst/>
            <a:cxnLst/>
            <a:rect r="r" b="b" t="t" l="l"/>
            <a:pathLst>
              <a:path h="4895850" w="9353550">
                <a:moveTo>
                  <a:pt x="0" y="0"/>
                </a:moveTo>
                <a:lnTo>
                  <a:pt x="9353550" y="0"/>
                </a:lnTo>
                <a:lnTo>
                  <a:pt x="9353550" y="4895850"/>
                </a:lnTo>
                <a:lnTo>
                  <a:pt x="0" y="4895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" t="0" r="-8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9090" y="2449449"/>
            <a:ext cx="6686550" cy="391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b="true" sz="2070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Smart Factory Applications:</a:t>
            </a:r>
          </a:p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07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Temperature Monitoring – prevents overheating</a:t>
            </a:r>
          </a:p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07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Humidity Monitoring – protects sensitive equipment</a:t>
            </a:r>
          </a:p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07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Real-Time Monitoring – live sensor data</a:t>
            </a:r>
          </a:p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b="true" sz="2070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Key Benefits:</a:t>
            </a:r>
          </a:p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07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Predictive maintenance</a:t>
            </a:r>
          </a:p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07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Lower maintenance costs</a:t>
            </a:r>
          </a:p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070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Improved machine safety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9090" y="1153414"/>
            <a:ext cx="12223915" cy="884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8"/>
              </a:lnSpc>
              <a:spcBef>
                <a:spcPct val="0"/>
              </a:spcBef>
            </a:pPr>
            <a:r>
              <a:rPr lang="en-US" b="true" sz="5180" strike="noStrike" u="non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INDUSTRIAL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09687"/>
            <a:ext cx="8115300" cy="137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68"/>
              </a:lnSpc>
            </a:pPr>
            <a:r>
              <a:rPr lang="en-US" b="true" sz="7866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SECURITY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09619"/>
            <a:ext cx="6305628" cy="173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AES-128 Encryption for data confidentiality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Authentication protocols to verify devices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Data integrity checks to prevent tampering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Trust Center managing and distributing security keys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Network-layer and application-layer security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5035" y="3789164"/>
            <a:ext cx="6305628" cy="279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Challenges: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Vulnerability to replay attacks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Risk of eavesdropping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Susceptibility to DoS attacks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Solutions: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Regular firmware updates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Robust key management procedures</a:t>
            </a:r>
          </a:p>
          <a:p>
            <a:pPr algn="just" marL="0" indent="0" lvl="0">
              <a:lnSpc>
                <a:spcPts val="2815"/>
              </a:lnSpc>
            </a:pPr>
            <a:r>
              <a:rPr lang="en-US" sz="1599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Strict access control mechanisms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97806"/>
            <a:ext cx="630562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Security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5035" y="3099641"/>
            <a:ext cx="630562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Challenges &amp; Solutions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6801408"/>
            <a:ext cx="6305628" cy="2856712"/>
            <a:chOff x="0" y="0"/>
            <a:chExt cx="976907" cy="4425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6907" cy="442579"/>
            </a:xfrm>
            <a:custGeom>
              <a:avLst/>
              <a:gdLst/>
              <a:ahLst/>
              <a:cxnLst/>
              <a:rect r="r" b="b" t="t" l="l"/>
              <a:pathLst>
                <a:path h="442579" w="976907">
                  <a:moveTo>
                    <a:pt x="0" y="0"/>
                  </a:moveTo>
                  <a:lnTo>
                    <a:pt x="976907" y="0"/>
                  </a:lnTo>
                  <a:lnTo>
                    <a:pt x="976907" y="442579"/>
                  </a:lnTo>
                  <a:lnTo>
                    <a:pt x="0" y="442579"/>
                  </a:lnTo>
                  <a:close/>
                </a:path>
              </a:pathLst>
            </a:custGeom>
            <a:blipFill>
              <a:blip r:embed="rId2"/>
              <a:stretch>
                <a:fillRect l="0" t="-12908" r="0" b="-1290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15035" y="6801408"/>
            <a:ext cx="5132940" cy="2856712"/>
            <a:chOff x="0" y="0"/>
            <a:chExt cx="795227" cy="4425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5227" cy="442579"/>
            </a:xfrm>
            <a:custGeom>
              <a:avLst/>
              <a:gdLst/>
              <a:ahLst/>
              <a:cxnLst/>
              <a:rect r="r" b="b" t="t" l="l"/>
              <a:pathLst>
                <a:path h="442579" w="795227">
                  <a:moveTo>
                    <a:pt x="0" y="0"/>
                  </a:moveTo>
                  <a:lnTo>
                    <a:pt x="795227" y="0"/>
                  </a:lnTo>
                  <a:lnTo>
                    <a:pt x="795227" y="442579"/>
                  </a:lnTo>
                  <a:lnTo>
                    <a:pt x="0" y="442579"/>
                  </a:lnTo>
                  <a:close/>
                </a:path>
              </a:pathLst>
            </a:custGeom>
            <a:blipFill>
              <a:blip r:embed="rId3"/>
              <a:stretch>
                <a:fillRect l="0" t="-1208" r="0" b="-120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4114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114800">
                  <a:moveTo>
                    <a:pt x="411480" y="0"/>
                  </a:moveTo>
                  <a:lnTo>
                    <a:pt x="3703320" y="0"/>
                  </a:lnTo>
                  <a:cubicBezTo>
                    <a:pt x="3930574" y="0"/>
                    <a:pt x="4114800" y="184226"/>
                    <a:pt x="4114800" y="411480"/>
                  </a:cubicBezTo>
                  <a:lnTo>
                    <a:pt x="4114800" y="13304520"/>
                  </a:lnTo>
                  <a:cubicBezTo>
                    <a:pt x="4114800" y="13413651"/>
                    <a:pt x="4071448" y="13518313"/>
                    <a:pt x="3994281" y="13595480"/>
                  </a:cubicBezTo>
                  <a:cubicBezTo>
                    <a:pt x="3917113" y="13672648"/>
                    <a:pt x="3812451" y="13716000"/>
                    <a:pt x="3703320" y="13716000"/>
                  </a:cubicBezTo>
                  <a:lnTo>
                    <a:pt x="411480" y="13716000"/>
                  </a:lnTo>
                  <a:cubicBezTo>
                    <a:pt x="302349" y="13716000"/>
                    <a:pt x="197687" y="13672648"/>
                    <a:pt x="120520" y="13595480"/>
                  </a:cubicBezTo>
                  <a:cubicBezTo>
                    <a:pt x="43352" y="13518313"/>
                    <a:pt x="0" y="13413651"/>
                    <a:pt x="0" y="13304520"/>
                  </a:cubicBezTo>
                  <a:lnTo>
                    <a:pt x="0" y="411480"/>
                  </a:lnTo>
                  <a:cubicBezTo>
                    <a:pt x="0" y="184226"/>
                    <a:pt x="184226" y="0"/>
                    <a:pt x="41148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14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03662" y="576262"/>
            <a:ext cx="16160338" cy="10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47"/>
              </a:lnSpc>
              <a:spcBef>
                <a:spcPct val="0"/>
              </a:spcBef>
            </a:pPr>
            <a:r>
              <a:rPr lang="en-US" b="true" sz="5033" strike="noStrike" u="non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COMPARISON: ZigBee vs BLE vs LoRaWAN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714500"/>
            <a:ext cx="4572000" cy="2667000"/>
            <a:chOff x="0" y="0"/>
            <a:chExt cx="6096000" cy="355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096000">
                  <a:moveTo>
                    <a:pt x="355600" y="0"/>
                  </a:moveTo>
                  <a:lnTo>
                    <a:pt x="5740400" y="0"/>
                  </a:lnTo>
                  <a:cubicBezTo>
                    <a:pt x="5936792" y="0"/>
                    <a:pt x="6096000" y="159208"/>
                    <a:pt x="6096000" y="355600"/>
                  </a:cubicBezTo>
                  <a:lnTo>
                    <a:pt x="6096000" y="3200400"/>
                  </a:lnTo>
                  <a:cubicBezTo>
                    <a:pt x="6096000" y="3396792"/>
                    <a:pt x="5936792" y="3556000"/>
                    <a:pt x="574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5495925"/>
            <a:ext cx="4572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ZigBee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6135213"/>
            <a:ext cx="4191000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Medium Range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Low Power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Mesh Networking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Industrial IoT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Long Battery Life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43700" y="1714500"/>
            <a:ext cx="4572000" cy="2667000"/>
            <a:chOff x="0" y="0"/>
            <a:chExt cx="6096000" cy="355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096000">
                  <a:moveTo>
                    <a:pt x="355600" y="0"/>
                  </a:moveTo>
                  <a:lnTo>
                    <a:pt x="5740400" y="0"/>
                  </a:lnTo>
                  <a:cubicBezTo>
                    <a:pt x="5936792" y="0"/>
                    <a:pt x="6096000" y="159208"/>
                    <a:pt x="6096000" y="355600"/>
                  </a:cubicBezTo>
                  <a:lnTo>
                    <a:pt x="6096000" y="3200400"/>
                  </a:lnTo>
                  <a:cubicBezTo>
                    <a:pt x="6096000" y="3396792"/>
                    <a:pt x="5936792" y="3556000"/>
                    <a:pt x="574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743700" y="5495925"/>
            <a:ext cx="4572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Bluetooth Low Energy (BLE)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48500" y="6135213"/>
            <a:ext cx="4191000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Short Range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Very Low Power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High Data Rate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Smartphone Compatible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Wearable Devices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458700" y="1714500"/>
            <a:ext cx="4572000" cy="2667000"/>
            <a:chOff x="0" y="0"/>
            <a:chExt cx="6096000" cy="355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096000">
                  <a:moveTo>
                    <a:pt x="355600" y="0"/>
                  </a:moveTo>
                  <a:lnTo>
                    <a:pt x="5740400" y="0"/>
                  </a:lnTo>
                  <a:cubicBezTo>
                    <a:pt x="5936792" y="0"/>
                    <a:pt x="6096000" y="159208"/>
                    <a:pt x="6096000" y="355600"/>
                  </a:cubicBezTo>
                  <a:lnTo>
                    <a:pt x="6096000" y="3200400"/>
                  </a:lnTo>
                  <a:cubicBezTo>
                    <a:pt x="6096000" y="3396792"/>
                    <a:pt x="5936792" y="3556000"/>
                    <a:pt x="574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458700" y="5495925"/>
            <a:ext cx="4572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LoRaWAN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68300" y="6135213"/>
            <a:ext cx="4191000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Long Range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Very Low Power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Low Data Rate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Smart Agriculture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Smart Cities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4114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114800">
                  <a:moveTo>
                    <a:pt x="411480" y="0"/>
                  </a:moveTo>
                  <a:lnTo>
                    <a:pt x="3703320" y="0"/>
                  </a:lnTo>
                  <a:cubicBezTo>
                    <a:pt x="3930574" y="0"/>
                    <a:pt x="4114800" y="184226"/>
                    <a:pt x="4114800" y="411480"/>
                  </a:cubicBezTo>
                  <a:lnTo>
                    <a:pt x="4114800" y="13304520"/>
                  </a:lnTo>
                  <a:cubicBezTo>
                    <a:pt x="4114800" y="13413651"/>
                    <a:pt x="4071448" y="13518313"/>
                    <a:pt x="3994281" y="13595480"/>
                  </a:cubicBezTo>
                  <a:cubicBezTo>
                    <a:pt x="3917113" y="13672648"/>
                    <a:pt x="3812451" y="13716000"/>
                    <a:pt x="3703320" y="13716000"/>
                  </a:cubicBezTo>
                  <a:lnTo>
                    <a:pt x="411480" y="13716000"/>
                  </a:lnTo>
                  <a:cubicBezTo>
                    <a:pt x="302349" y="13716000"/>
                    <a:pt x="197687" y="13672648"/>
                    <a:pt x="120520" y="13595480"/>
                  </a:cubicBezTo>
                  <a:cubicBezTo>
                    <a:pt x="43352" y="13518313"/>
                    <a:pt x="0" y="13413651"/>
                    <a:pt x="0" y="13304520"/>
                  </a:cubicBezTo>
                  <a:lnTo>
                    <a:pt x="0" y="411480"/>
                  </a:lnTo>
                  <a:cubicBezTo>
                    <a:pt x="0" y="184226"/>
                    <a:pt x="184226" y="0"/>
                    <a:pt x="41148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14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7275" y="600075"/>
            <a:ext cx="16163925" cy="87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47"/>
              </a:lnSpc>
              <a:spcBef>
                <a:spcPct val="0"/>
              </a:spcBef>
            </a:pPr>
            <a:r>
              <a:rPr lang="en-US" b="true" sz="4390" strike="noStrike" u="non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ENERGY HARVESTING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619250"/>
            <a:ext cx="4572000" cy="2381250"/>
            <a:chOff x="0" y="0"/>
            <a:chExt cx="6096000" cy="317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6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096000">
                  <a:moveTo>
                    <a:pt x="317500" y="0"/>
                  </a:moveTo>
                  <a:lnTo>
                    <a:pt x="5778500" y="0"/>
                  </a:lnTo>
                  <a:cubicBezTo>
                    <a:pt x="5953851" y="0"/>
                    <a:pt x="6096000" y="142150"/>
                    <a:pt x="6096000" y="317500"/>
                  </a:cubicBezTo>
                  <a:lnTo>
                    <a:pt x="6096000" y="2857500"/>
                  </a:lnTo>
                  <a:cubicBezTo>
                    <a:pt x="6096000" y="3032850"/>
                    <a:pt x="5953851" y="3175000"/>
                    <a:pt x="5778500" y="3175000"/>
                  </a:cubicBezTo>
                  <a:lnTo>
                    <a:pt x="317500" y="3175000"/>
                  </a:lnTo>
                  <a:cubicBezTo>
                    <a:pt x="142150" y="3175000"/>
                    <a:pt x="0" y="3032850"/>
                    <a:pt x="0" y="28575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4114800"/>
            <a:ext cx="4572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Solar Energy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3025" y="4714739"/>
            <a:ext cx="4381500" cy="118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Uses photovoltaic panels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Powers outdoor ZigBee sensors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Reduces battery replacement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838950" y="1619250"/>
            <a:ext cx="4572000" cy="2381250"/>
            <a:chOff x="0" y="0"/>
            <a:chExt cx="6096000" cy="317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096000">
                  <a:moveTo>
                    <a:pt x="317500" y="0"/>
                  </a:moveTo>
                  <a:lnTo>
                    <a:pt x="5778500" y="0"/>
                  </a:lnTo>
                  <a:cubicBezTo>
                    <a:pt x="5953851" y="0"/>
                    <a:pt x="6096000" y="142150"/>
                    <a:pt x="6096000" y="317500"/>
                  </a:cubicBezTo>
                  <a:lnTo>
                    <a:pt x="6096000" y="2857500"/>
                  </a:lnTo>
                  <a:cubicBezTo>
                    <a:pt x="6096000" y="3032850"/>
                    <a:pt x="5953851" y="3175000"/>
                    <a:pt x="5778500" y="3175000"/>
                  </a:cubicBezTo>
                  <a:lnTo>
                    <a:pt x="317500" y="3175000"/>
                  </a:lnTo>
                  <a:cubicBezTo>
                    <a:pt x="142150" y="3175000"/>
                    <a:pt x="0" y="3032850"/>
                    <a:pt x="0" y="28575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838950" y="4114800"/>
            <a:ext cx="4572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RF Energy Harvesting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24700" y="4714739"/>
            <a:ext cx="4381500" cy="118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Harvests ambient RF signals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Supports ultra-low-power sensors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Supplementary energy source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649200" y="1619250"/>
            <a:ext cx="4572000" cy="2381250"/>
            <a:chOff x="0" y="0"/>
            <a:chExt cx="6096000" cy="317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096000">
                  <a:moveTo>
                    <a:pt x="317500" y="0"/>
                  </a:moveTo>
                  <a:lnTo>
                    <a:pt x="5778500" y="0"/>
                  </a:lnTo>
                  <a:cubicBezTo>
                    <a:pt x="5953851" y="0"/>
                    <a:pt x="6096000" y="142150"/>
                    <a:pt x="6096000" y="317500"/>
                  </a:cubicBezTo>
                  <a:lnTo>
                    <a:pt x="6096000" y="2857500"/>
                  </a:lnTo>
                  <a:cubicBezTo>
                    <a:pt x="6096000" y="3032850"/>
                    <a:pt x="5953851" y="3175000"/>
                    <a:pt x="5778500" y="3175000"/>
                  </a:cubicBezTo>
                  <a:lnTo>
                    <a:pt x="317500" y="3175000"/>
                  </a:lnTo>
                  <a:cubicBezTo>
                    <a:pt x="142150" y="3175000"/>
                    <a:pt x="0" y="3032850"/>
                    <a:pt x="0" y="28575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649200" y="4114800"/>
            <a:ext cx="4572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Mechanical Vibration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02986" y="4714739"/>
            <a:ext cx="4381500" cy="118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Converts vibration into electricity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Suitable for industrial monitoring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1799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• Enables maintenance-free operation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0570" y="6679565"/>
            <a:ext cx="3810000" cy="4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Key Benefits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3025" y="7282180"/>
            <a:ext cx="4381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Longer Battery Life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3025" y="7663180"/>
            <a:ext cx="4381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Reduced Maintenance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3025" y="8044180"/>
            <a:ext cx="4381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Self-Powered IoT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04937"/>
            <a:ext cx="8115300" cy="127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9"/>
              </a:lnSpc>
            </a:pPr>
            <a:r>
              <a:rPr lang="en-US" b="true" sz="4034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CHALLENGES &amp; FUTURE TRENDS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92112"/>
            <a:ext cx="6305628" cy="17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Interference from other wireless systems (Wi-Fi, Bluetooth)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Scalability limitations in ultra-large deployments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Energy consumption of routers in mesh networks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Limited data rate compared to modern standards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Security vulnerabilities in dense IoT environments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6424" y="3792112"/>
            <a:ext cx="6305628" cy="17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Integration with Industry 4.0 initiatives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Edge computing for local data processing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Cloud integration for analytics and management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Adoption of the Matter standard for interoperability</a:t>
            </a:r>
          </a:p>
          <a:p>
            <a:pPr algn="just" marL="0" indent="0" lvl="0">
              <a:lnSpc>
                <a:spcPts val="2900"/>
              </a:lnSpc>
            </a:pPr>
            <a:r>
              <a:rPr lang="en-US" sz="1647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• Development of smart infrastructure ecosystems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97806"/>
            <a:ext cx="630562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Challenges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6424" y="3097806"/>
            <a:ext cx="630562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1 Bold"/>
                <a:ea typeface="Nunito 1 Bold"/>
                <a:cs typeface="Nunito 1 Bold"/>
                <a:sym typeface="Nunito 1 Bold"/>
              </a:rPr>
              <a:t>Future Trends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5939625"/>
            <a:ext cx="6305628" cy="2856712"/>
            <a:chOff x="0" y="0"/>
            <a:chExt cx="976907" cy="4425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6907" cy="442579"/>
            </a:xfrm>
            <a:custGeom>
              <a:avLst/>
              <a:gdLst/>
              <a:ahLst/>
              <a:cxnLst/>
              <a:rect r="r" b="b" t="t" l="l"/>
              <a:pathLst>
                <a:path h="442579" w="976907">
                  <a:moveTo>
                    <a:pt x="0" y="0"/>
                  </a:moveTo>
                  <a:lnTo>
                    <a:pt x="976907" y="0"/>
                  </a:lnTo>
                  <a:lnTo>
                    <a:pt x="976907" y="442579"/>
                  </a:lnTo>
                  <a:lnTo>
                    <a:pt x="0" y="442579"/>
                  </a:lnTo>
                  <a:close/>
                </a:path>
              </a:pathLst>
            </a:custGeom>
            <a:blipFill>
              <a:blip r:embed="rId2"/>
              <a:stretch>
                <a:fillRect l="0" t="-12908" r="0" b="-1290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06424" y="5939625"/>
            <a:ext cx="6305628" cy="2856712"/>
            <a:chOff x="0" y="0"/>
            <a:chExt cx="976907" cy="4425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6907" cy="442579"/>
            </a:xfrm>
            <a:custGeom>
              <a:avLst/>
              <a:gdLst/>
              <a:ahLst/>
              <a:cxnLst/>
              <a:rect r="r" b="b" t="t" l="l"/>
              <a:pathLst>
                <a:path h="442579" w="976907">
                  <a:moveTo>
                    <a:pt x="0" y="0"/>
                  </a:moveTo>
                  <a:lnTo>
                    <a:pt x="976907" y="0"/>
                  </a:lnTo>
                  <a:lnTo>
                    <a:pt x="976907" y="442579"/>
                  </a:lnTo>
                  <a:lnTo>
                    <a:pt x="0" y="442579"/>
                  </a:lnTo>
                  <a:close/>
                </a:path>
              </a:pathLst>
            </a:custGeom>
            <a:blipFill>
              <a:blip r:embed="rId3"/>
              <a:stretch>
                <a:fillRect l="0" t="-12908" r="0" b="-12908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66800"/>
            <a:ext cx="83534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38350"/>
            <a:ext cx="835342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Main Findings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19375"/>
            <a:ext cx="8734425" cy="2341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6345" indent="-203172" lvl="1">
              <a:lnSpc>
                <a:spcPts val="3764"/>
              </a:lnSpc>
              <a:buFont typeface="Arial"/>
              <a:buChar char="•"/>
            </a:pPr>
            <a:r>
              <a:rPr lang="en-US" sz="1882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 Low-power and energy-efficient communication</a:t>
            </a:r>
          </a:p>
          <a:p>
            <a:pPr algn="l" marL="406345" indent="-203172" lvl="1">
              <a:lnSpc>
                <a:spcPts val="3764"/>
              </a:lnSpc>
              <a:buFont typeface="Arial"/>
              <a:buChar char="•"/>
            </a:pPr>
            <a:r>
              <a:rPr lang="en-US" sz="1882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 Reliable mesh networking</a:t>
            </a:r>
          </a:p>
          <a:p>
            <a:pPr algn="l" marL="406345" indent="-203172" lvl="1">
              <a:lnSpc>
                <a:spcPts val="3764"/>
              </a:lnSpc>
              <a:buFont typeface="Arial"/>
              <a:buChar char="•"/>
            </a:pPr>
            <a:r>
              <a:rPr lang="en-US" sz="1882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 Secure communication using AES-128</a:t>
            </a:r>
          </a:p>
          <a:p>
            <a:pPr algn="l" marL="406345" indent="-203172" lvl="1">
              <a:lnSpc>
                <a:spcPts val="3764"/>
              </a:lnSpc>
              <a:buFont typeface="Arial"/>
              <a:buChar char="•"/>
            </a:pPr>
            <a:r>
              <a:rPr lang="en-US" sz="1882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 Suitable for Industrial IoT and Wireless Sensor Networks</a:t>
            </a:r>
          </a:p>
          <a:p>
            <a:pPr algn="l" marL="406345" indent="-203172" lvl="1">
              <a:lnSpc>
                <a:spcPts val="3764"/>
              </a:lnSpc>
              <a:buFont typeface="Arial"/>
              <a:buChar char="•"/>
            </a:pPr>
            <a:r>
              <a:rPr lang="en-US" sz="1882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 Future-ready with energy harvesting and smart infrastructure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29528" y="1746250"/>
            <a:ext cx="6191250" cy="6667500"/>
            <a:chOff x="0" y="0"/>
            <a:chExt cx="8255000" cy="889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55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255000">
                  <a:moveTo>
                    <a:pt x="825500" y="0"/>
                  </a:moveTo>
                  <a:lnTo>
                    <a:pt x="7429500" y="0"/>
                  </a:lnTo>
                  <a:cubicBezTo>
                    <a:pt x="7885411" y="0"/>
                    <a:pt x="8255000" y="369589"/>
                    <a:pt x="8255000" y="825500"/>
                  </a:cubicBezTo>
                  <a:lnTo>
                    <a:pt x="8255000" y="8064500"/>
                  </a:lnTo>
                  <a:cubicBezTo>
                    <a:pt x="8255000" y="8520411"/>
                    <a:pt x="7885411" y="8890000"/>
                    <a:pt x="7429500" y="8890000"/>
                  </a:cubicBezTo>
                  <a:lnTo>
                    <a:pt x="825500" y="8890000"/>
                  </a:lnTo>
                  <a:cubicBezTo>
                    <a:pt x="369589" y="8890000"/>
                    <a:pt x="0" y="8520411"/>
                    <a:pt x="0" y="8064500"/>
                  </a:cubicBezTo>
                  <a:lnTo>
                    <a:pt x="0" y="825500"/>
                  </a:lnTo>
                  <a:cubicBezTo>
                    <a:pt x="0" y="369589"/>
                    <a:pt x="369589" y="0"/>
                    <a:pt x="8255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4114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114800">
                  <a:moveTo>
                    <a:pt x="411480" y="0"/>
                  </a:moveTo>
                  <a:lnTo>
                    <a:pt x="3703320" y="0"/>
                  </a:lnTo>
                  <a:cubicBezTo>
                    <a:pt x="3930574" y="0"/>
                    <a:pt x="4114800" y="184226"/>
                    <a:pt x="4114800" y="411480"/>
                  </a:cubicBezTo>
                  <a:lnTo>
                    <a:pt x="4114800" y="13304520"/>
                  </a:lnTo>
                  <a:cubicBezTo>
                    <a:pt x="4114800" y="13413651"/>
                    <a:pt x="4071448" y="13518313"/>
                    <a:pt x="3994281" y="13595480"/>
                  </a:cubicBezTo>
                  <a:cubicBezTo>
                    <a:pt x="3917113" y="13672648"/>
                    <a:pt x="3812451" y="13716000"/>
                    <a:pt x="3703320" y="13716000"/>
                  </a:cubicBezTo>
                  <a:lnTo>
                    <a:pt x="411480" y="13716000"/>
                  </a:lnTo>
                  <a:cubicBezTo>
                    <a:pt x="302349" y="13716000"/>
                    <a:pt x="197687" y="13672648"/>
                    <a:pt x="120520" y="13595480"/>
                  </a:cubicBezTo>
                  <a:cubicBezTo>
                    <a:pt x="43352" y="13518313"/>
                    <a:pt x="0" y="13413651"/>
                    <a:pt x="0" y="13304520"/>
                  </a:cubicBezTo>
                  <a:lnTo>
                    <a:pt x="0" y="411480"/>
                  </a:lnTo>
                  <a:cubicBezTo>
                    <a:pt x="0" y="184226"/>
                    <a:pt x="184226" y="0"/>
                    <a:pt x="41148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14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52500"/>
            <a:ext cx="8353425" cy="79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2"/>
              </a:lnSpc>
              <a:spcBef>
                <a:spcPct val="0"/>
              </a:spcBef>
            </a:pPr>
            <a:r>
              <a:rPr lang="en-US" b="true" sz="4015" strike="noStrike" u="non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58127"/>
            <a:ext cx="15240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Image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24100"/>
            <a:ext cx="15240000" cy="191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[1] Adobe Stock, "Smart City with Internet of Things (IoT)," Accessed: Jun. 30, 2026. [Online]. Available: https://stock.adobe.com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[2] Milesight IoT, "Industrial Wireless Sensor Network," Accessed: Jun. 30, 2026. [Online]. Available: https://www.milesight-iot.com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[3] Silicon Labs, "Smart Home IoT Devices," Accessed: Jun. 30, 2026. [Online]. Available: https://www.silabs.com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[4] NXP Semiconductors, "IEEE 802.15.4 / ZigBee Application Note AN3403," Rev. 1.0, 2007.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38650"/>
            <a:ext cx="15240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303870"/>
                </a:solidFill>
                <a:latin typeface="Nunito 2 Bold"/>
                <a:ea typeface="Nunito 2 Bold"/>
                <a:cs typeface="Nunito 2 Bold"/>
                <a:sym typeface="Nunito 2 Bold"/>
              </a:rPr>
              <a:t>Academic 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982845"/>
            <a:ext cx="15240000" cy="13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[5] I. F. Akyildiz, W. Su, Y. Sankarasubramaniam, and E. Cayirci, "Wireless Sensor Networks: A Survey," Computer Networks, vol. 38, no. 4, pp. 393-422, 2002.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[6] K. Sohraby, D. Minoli, and T. Znati, Wireless Sensor Networks: Technology, Protocols, and Applications. Hoboken, NJ, USA: John Wiley &amp; Sons, 2007.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03870"/>
                </a:solidFill>
                <a:latin typeface="Nunito 2"/>
                <a:ea typeface="Nunito 2"/>
                <a:cs typeface="Nunito 2"/>
                <a:sym typeface="Nunito 2"/>
              </a:rPr>
              <a:t>[7] G. Anastasi, M. Conti, M. Di Francesco, and A. Passarella, "Energy Conservation in Wireless Sensor Networks: A Survey," Ad Hoc Networks, vol. 7, no. 3, pp. 537-568, 2009.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34337"/>
            <a:ext cx="10208996" cy="181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83"/>
              </a:lnSpc>
            </a:pPr>
            <a:r>
              <a:rPr lang="en-US" b="true" sz="10336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676387"/>
            <a:ext cx="4786930" cy="838151"/>
            <a:chOff x="0" y="0"/>
            <a:chExt cx="1260755" cy="220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0755" cy="220747"/>
            </a:xfrm>
            <a:custGeom>
              <a:avLst/>
              <a:gdLst/>
              <a:ahLst/>
              <a:cxnLst/>
              <a:rect r="r" b="b" t="t" l="l"/>
              <a:pathLst>
                <a:path h="220747" w="1260755">
                  <a:moveTo>
                    <a:pt x="110374" y="0"/>
                  </a:moveTo>
                  <a:lnTo>
                    <a:pt x="1150381" y="0"/>
                  </a:lnTo>
                  <a:cubicBezTo>
                    <a:pt x="1179654" y="0"/>
                    <a:pt x="1207728" y="11629"/>
                    <a:pt x="1228428" y="32328"/>
                  </a:cubicBezTo>
                  <a:cubicBezTo>
                    <a:pt x="1249127" y="53027"/>
                    <a:pt x="1260755" y="81101"/>
                    <a:pt x="1260755" y="110374"/>
                  </a:cubicBezTo>
                  <a:lnTo>
                    <a:pt x="1260755" y="110374"/>
                  </a:lnTo>
                  <a:cubicBezTo>
                    <a:pt x="1260755" y="139647"/>
                    <a:pt x="1249127" y="167721"/>
                    <a:pt x="1228428" y="188420"/>
                  </a:cubicBezTo>
                  <a:cubicBezTo>
                    <a:pt x="1207728" y="209119"/>
                    <a:pt x="1179654" y="220747"/>
                    <a:pt x="1150381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260755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29385" y="5821329"/>
            <a:ext cx="4185559" cy="3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1"/>
              </a:lnSpc>
            </a:pPr>
            <a:r>
              <a:rPr lang="en-US" sz="1993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 Any Questions?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727784"/>
            <a:ext cx="6680614" cy="33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2"/>
              </a:lnSpc>
            </a:pPr>
            <a:r>
              <a:rPr lang="en-US" sz="2001">
                <a:solidFill>
                  <a:srgbClr val="303870"/>
                </a:solidFill>
                <a:latin typeface="Nunito 1"/>
                <a:ea typeface="Nunito 1"/>
                <a:cs typeface="Nunito 1"/>
                <a:sym typeface="Nunito 1"/>
              </a:rPr>
              <a:t>Md. Sayeed Anwar Seam, Mir Sharjil Hasan, Saracini Kleivi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DAHNm_3BeZY</dc:identifier>
  <dcterms:modified xsi:type="dcterms:W3CDTF">2011-08-01T06:04:30Z</dcterms:modified>
  <cp:revision>1</cp:revision>
  <dc:title>Presentation Using Provided Template</dc:title>
</cp:coreProperties>
</file>