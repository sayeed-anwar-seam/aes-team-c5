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Economica"/>
      <p:regular r:id="rId18"/>
      <p:bold r:id="rId19"/>
      <p:italic r:id="rId20"/>
      <p:boldItalic r:id="rId21"/>
    </p:embeddedFont>
    <p:embeddedFont>
      <p:font typeface="Roboto"/>
      <p:regular r:id="rId22"/>
      <p:bold r:id="rId23"/>
      <p:italic r:id="rId24"/>
      <p:boldItalic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conomica-italic.fntdata"/><Relationship Id="rId22" Type="http://schemas.openxmlformats.org/officeDocument/2006/relationships/font" Target="fonts/Roboto-regular.fntdata"/><Relationship Id="rId21" Type="http://schemas.openxmlformats.org/officeDocument/2006/relationships/font" Target="fonts/Economica-boldItalic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Economica-bold.fntdata"/><Relationship Id="rId18" Type="http://schemas.openxmlformats.org/officeDocument/2006/relationships/font" Target="fonts/Economic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379daeada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379daeada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379daead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379daead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379daead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379daead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379daead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379daead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379daeada_0_18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f379daeada_0_18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379daeada_0_19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379daeada_0_19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379daeada_0_1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379daeada_0_1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379daeada_0_19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379daeada_0_19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379daeada_0_19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379daeada_0_1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379daeada_0_19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f379daeada_0_1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379daeada_0_1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379daeada_0_1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IoT-Based Smart Parking System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Mir Sharjil Hasan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MD Sayeed Anwar Seam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Kleivi Saracini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Smart Parking?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Smart parking uses IoT technology to monitor and manage parking spaces automatically.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It helps drivers find available spaces quickly.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Reduces traffic congestion, fuel consumption and time wasted searching for parking.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 with Traditional Parking Systems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-Drivers spend time searching for empty parking spots.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-Increased traffic around parking areas.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-Inefficient use of available spaces.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-Lack of real-time parking information.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Solution: IoT-Based Smart Parking System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Sensors detect whether parking spaces are occupied or free.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Data is sent through a communication network to a server/cloud.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Automated monitoring reduces human </a:t>
            </a:r>
            <a:r>
              <a:rPr lang="en"/>
              <a:t>involvement.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Architecture</a:t>
            </a:r>
            <a:endParaRPr/>
          </a:p>
        </p:txBody>
      </p:sp>
      <p:sp>
        <p:nvSpPr>
          <p:cNvPr id="87" name="Google Shape;87;p17"/>
          <p:cNvSpPr/>
          <p:nvPr/>
        </p:nvSpPr>
        <p:spPr>
          <a:xfrm rot="-984884">
            <a:off x="7096892" y="2556505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 flipH="1" rot="984884">
            <a:off x="6063278" y="2556505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 rot="-984884">
            <a:off x="5036629" y="2556505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 flipH="1" rot="984884">
            <a:off x="4005984" y="2556505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 rot="-984884">
            <a:off x="2983463" y="2556505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 flipH="1" rot="984884">
            <a:off x="1952807" y="2556505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701C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7"/>
          <p:cNvSpPr/>
          <p:nvPr/>
        </p:nvSpPr>
        <p:spPr>
          <a:xfrm rot="-984884">
            <a:off x="930286" y="2556505"/>
            <a:ext cx="1116820" cy="57901"/>
          </a:xfrm>
          <a:prstGeom prst="roundRect">
            <a:avLst>
              <a:gd fmla="val 50000" name="adj"/>
            </a:avLst>
          </a:prstGeom>
          <a:solidFill>
            <a:srgbClr val="701C7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17"/>
          <p:cNvGrpSpPr/>
          <p:nvPr/>
        </p:nvGrpSpPr>
        <p:grpSpPr>
          <a:xfrm>
            <a:off x="2177540" y="2617313"/>
            <a:ext cx="1712700" cy="1230715"/>
            <a:chOff x="2114740" y="2543425"/>
            <a:chExt cx="1712700" cy="1230715"/>
          </a:xfrm>
        </p:grpSpPr>
        <p:sp>
          <p:nvSpPr>
            <p:cNvPr id="95" name="Google Shape;95;p17"/>
            <p:cNvSpPr/>
            <p:nvPr/>
          </p:nvSpPr>
          <p:spPr>
            <a:xfrm rot="-1789476">
              <a:off x="2888080" y="2572699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701C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7"/>
            <p:cNvSpPr/>
            <p:nvPr/>
          </p:nvSpPr>
          <p:spPr>
            <a:xfrm>
              <a:off x="2114740" y="307064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7"/>
            <p:cNvSpPr txBox="1"/>
            <p:nvPr/>
          </p:nvSpPr>
          <p:spPr>
            <a:xfrm>
              <a:off x="2158990" y="3107840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SENSORS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98" name="Google Shape;98;p17"/>
            <p:cNvSpPr/>
            <p:nvPr/>
          </p:nvSpPr>
          <p:spPr>
            <a:xfrm>
              <a:off x="2926090" y="3005991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" name="Google Shape;99;p17"/>
          <p:cNvGrpSpPr/>
          <p:nvPr/>
        </p:nvGrpSpPr>
        <p:grpSpPr>
          <a:xfrm>
            <a:off x="4227940" y="2617313"/>
            <a:ext cx="1712700" cy="1230715"/>
            <a:chOff x="4165140" y="2543425"/>
            <a:chExt cx="1712700" cy="1230715"/>
          </a:xfrm>
        </p:grpSpPr>
        <p:sp>
          <p:nvSpPr>
            <p:cNvPr id="100" name="Google Shape;100;p17"/>
            <p:cNvSpPr/>
            <p:nvPr/>
          </p:nvSpPr>
          <p:spPr>
            <a:xfrm rot="-1789476">
              <a:off x="4941257" y="2572699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7"/>
            <p:cNvSpPr/>
            <p:nvPr/>
          </p:nvSpPr>
          <p:spPr>
            <a:xfrm>
              <a:off x="4165140" y="307064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7"/>
            <p:cNvSpPr txBox="1"/>
            <p:nvPr/>
          </p:nvSpPr>
          <p:spPr>
            <a:xfrm>
              <a:off x="4209390" y="3107840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3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COMMUNICATION (WI-FI/LoRa/MQTT</a:t>
              </a:r>
              <a:r>
                <a:rPr lang="en" sz="8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)</a:t>
              </a:r>
              <a:endParaRPr sz="800">
                <a:solidFill>
                  <a:srgbClr val="5E5E5E"/>
                </a:solidFill>
              </a:endParaRPr>
            </a:p>
          </p:txBody>
        </p:sp>
        <p:sp>
          <p:nvSpPr>
            <p:cNvPr id="103" name="Google Shape;103;p17"/>
            <p:cNvSpPr/>
            <p:nvPr/>
          </p:nvSpPr>
          <p:spPr>
            <a:xfrm>
              <a:off x="4976490" y="3005991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4" name="Google Shape;104;p17"/>
          <p:cNvGrpSpPr/>
          <p:nvPr/>
        </p:nvGrpSpPr>
        <p:grpSpPr>
          <a:xfrm>
            <a:off x="1140195" y="1295457"/>
            <a:ext cx="1712700" cy="1246754"/>
            <a:chOff x="1072790" y="1221570"/>
            <a:chExt cx="1712700" cy="1246754"/>
          </a:xfrm>
        </p:grpSpPr>
        <p:sp>
          <p:nvSpPr>
            <p:cNvPr id="105" name="Google Shape;105;p17"/>
            <p:cNvSpPr/>
            <p:nvPr/>
          </p:nvSpPr>
          <p:spPr>
            <a:xfrm>
              <a:off x="1072790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7"/>
            <p:cNvSpPr/>
            <p:nvPr/>
          </p:nvSpPr>
          <p:spPr>
            <a:xfrm rot="10800000">
              <a:off x="1884115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7"/>
            <p:cNvSpPr txBox="1"/>
            <p:nvPr/>
          </p:nvSpPr>
          <p:spPr>
            <a:xfrm>
              <a:off x="1117040" y="1258770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PARKING SLOT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08" name="Google Shape;108;p17"/>
            <p:cNvSpPr/>
            <p:nvPr/>
          </p:nvSpPr>
          <p:spPr>
            <a:xfrm rot="-1789476">
              <a:off x="1846080" y="2278597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701C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9" name="Google Shape;109;p17"/>
          <p:cNvGrpSpPr/>
          <p:nvPr/>
        </p:nvGrpSpPr>
        <p:grpSpPr>
          <a:xfrm>
            <a:off x="3185940" y="1295457"/>
            <a:ext cx="1712700" cy="1246754"/>
            <a:chOff x="3123140" y="1221570"/>
            <a:chExt cx="1712700" cy="1246754"/>
          </a:xfrm>
        </p:grpSpPr>
        <p:sp>
          <p:nvSpPr>
            <p:cNvPr id="110" name="Google Shape;110;p17"/>
            <p:cNvSpPr/>
            <p:nvPr/>
          </p:nvSpPr>
          <p:spPr>
            <a:xfrm rot="-1789476">
              <a:off x="3899258" y="2278597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7"/>
            <p:cNvSpPr/>
            <p:nvPr/>
          </p:nvSpPr>
          <p:spPr>
            <a:xfrm>
              <a:off x="3123140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 rot="10800000">
              <a:off x="3934465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7"/>
            <p:cNvSpPr txBox="1"/>
            <p:nvPr/>
          </p:nvSpPr>
          <p:spPr>
            <a:xfrm>
              <a:off x="3167390" y="1258770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MICROCONTROLLER (ESP32)</a:t>
              </a:r>
              <a:endParaRPr sz="1200">
                <a:solidFill>
                  <a:srgbClr val="5E5E5E"/>
                </a:solidFill>
              </a:endParaRPr>
            </a:p>
          </p:txBody>
        </p:sp>
      </p:grpSp>
      <p:grpSp>
        <p:nvGrpSpPr>
          <p:cNvPr id="114" name="Google Shape;114;p17"/>
          <p:cNvGrpSpPr/>
          <p:nvPr/>
        </p:nvGrpSpPr>
        <p:grpSpPr>
          <a:xfrm>
            <a:off x="5253495" y="1295457"/>
            <a:ext cx="1712700" cy="1246754"/>
            <a:chOff x="5201245" y="1221570"/>
            <a:chExt cx="1712700" cy="1246754"/>
          </a:xfrm>
        </p:grpSpPr>
        <p:sp>
          <p:nvSpPr>
            <p:cNvPr id="115" name="Google Shape;115;p17"/>
            <p:cNvSpPr/>
            <p:nvPr/>
          </p:nvSpPr>
          <p:spPr>
            <a:xfrm rot="-1789476">
              <a:off x="5977648" y="2278597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7"/>
            <p:cNvSpPr/>
            <p:nvPr/>
          </p:nvSpPr>
          <p:spPr>
            <a:xfrm>
              <a:off x="5201245" y="122157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7"/>
            <p:cNvSpPr/>
            <p:nvPr/>
          </p:nvSpPr>
          <p:spPr>
            <a:xfrm rot="10800000">
              <a:off x="6012570" y="1920663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7"/>
            <p:cNvSpPr txBox="1"/>
            <p:nvPr/>
          </p:nvSpPr>
          <p:spPr>
            <a:xfrm>
              <a:off x="5245495" y="1258770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300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CLOUD DATABASE</a:t>
              </a:r>
              <a:endParaRPr sz="1300">
                <a:solidFill>
                  <a:srgbClr val="5E5E5E"/>
                </a:solidFill>
              </a:endParaRPr>
            </a:p>
          </p:txBody>
        </p:sp>
      </p:grpSp>
      <p:grpSp>
        <p:nvGrpSpPr>
          <p:cNvPr id="119" name="Google Shape;119;p17"/>
          <p:cNvGrpSpPr/>
          <p:nvPr/>
        </p:nvGrpSpPr>
        <p:grpSpPr>
          <a:xfrm>
            <a:off x="6278353" y="2617313"/>
            <a:ext cx="1712700" cy="1230715"/>
            <a:chOff x="6282830" y="2543425"/>
            <a:chExt cx="1712700" cy="1230715"/>
          </a:xfrm>
        </p:grpSpPr>
        <p:sp>
          <p:nvSpPr>
            <p:cNvPr id="120" name="Google Shape;120;p17"/>
            <p:cNvSpPr/>
            <p:nvPr/>
          </p:nvSpPr>
          <p:spPr>
            <a:xfrm rot="-1789476">
              <a:off x="7058947" y="2572699"/>
              <a:ext cx="160451" cy="160451"/>
            </a:xfrm>
            <a:prstGeom prst="ellipse">
              <a:avLst/>
            </a:prstGeom>
            <a:solidFill>
              <a:srgbClr val="FFFFFF"/>
            </a:solidFill>
            <a:ln cap="flat" cmpd="sng" w="38100">
              <a:solidFill>
                <a:srgbClr val="85858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6282830" y="3070640"/>
              <a:ext cx="1712700" cy="703500"/>
            </a:xfrm>
            <a:prstGeom prst="roundRect">
              <a:avLst>
                <a:gd fmla="val 4485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7"/>
            <p:cNvSpPr txBox="1"/>
            <p:nvPr/>
          </p:nvSpPr>
          <p:spPr>
            <a:xfrm>
              <a:off x="6327080" y="3107840"/>
              <a:ext cx="16242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>
                  <a:solidFill>
                    <a:srgbClr val="5E5E5E"/>
                  </a:solidFill>
                  <a:latin typeface="Roboto"/>
                  <a:ea typeface="Roboto"/>
                  <a:cs typeface="Roboto"/>
                  <a:sym typeface="Roboto"/>
                </a:rPr>
                <a:t>DASHBOARD</a:t>
              </a:r>
              <a:endParaRPr>
                <a:solidFill>
                  <a:srgbClr val="5E5E5E"/>
                </a:solidFill>
              </a:endParaRPr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7094180" y="3005991"/>
              <a:ext cx="90000" cy="67500"/>
            </a:xfrm>
            <a:prstGeom prst="triangle">
              <a:avLst>
                <a:gd fmla="val 50000" name="adj"/>
              </a:avLst>
            </a:pr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Components</a:t>
            </a:r>
            <a:endParaRPr/>
          </a:p>
        </p:txBody>
      </p:sp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Hardware Used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ESP32 / Raspberry Pi </a:t>
            </a:r>
            <a:r>
              <a:rPr lang="en"/>
              <a:t>processes sensor data and controls communication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Ultrasonic sensors</a:t>
            </a:r>
            <a:r>
              <a:rPr lang="en"/>
              <a:t> detect vehicle presence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LED indicators</a:t>
            </a:r>
            <a:r>
              <a:rPr lang="en"/>
              <a:t> show available/occupied spaces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LCD display</a:t>
            </a:r>
            <a:r>
              <a:rPr lang="en"/>
              <a:t> displays parking availability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Power Supply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Software &amp; Communication</a:t>
            </a:r>
            <a:endParaRPr/>
          </a:p>
        </p:txBody>
      </p:sp>
      <p:sp>
        <p:nvSpPr>
          <p:cNvPr id="135" name="Google Shape;135;p19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/>
              <a:t>Software Technologies</a:t>
            </a:r>
            <a:endParaRPr b="1"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Embedded programming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Cloud database for storing parking data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Mobile/web application interface</a:t>
            </a:r>
            <a:endParaRPr/>
          </a:p>
        </p:txBody>
      </p:sp>
      <p:sp>
        <p:nvSpPr>
          <p:cNvPr id="136" name="Google Shape;136;p19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/>
              <a:t>Communication Protocols</a:t>
            </a:r>
            <a:endParaRPr b="1"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Wi-Fi for internet connectivity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MQTT for lightweight IoT communication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Principle </a:t>
            </a:r>
            <a:endParaRPr/>
          </a:p>
        </p:txBody>
      </p:sp>
      <p:sp>
        <p:nvSpPr>
          <p:cNvPr id="142" name="Google Shape;142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Vehicle enters a parking slot.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Sensor detects the presence of the vehicle.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Microcontroller processes the information.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Data is transmitted to the cloud/server.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Application updates parking availability.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Driver selects an available space.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</a:t>
            </a:r>
            <a:endParaRPr/>
          </a:p>
        </p:txBody>
      </p:sp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Real-time parking availability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Reduced traffic congestion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Saves fuel and time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Better utilization of parking spaces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Lower operational costs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Environmentally friendly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Challenges &amp; Future Improvements</a:t>
            </a:r>
            <a:endParaRPr/>
          </a:p>
        </p:txBody>
      </p:sp>
      <p:sp>
        <p:nvSpPr>
          <p:cNvPr id="154" name="Google Shape;154;p22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/>
              <a:t>Challenges</a:t>
            </a:r>
            <a:endParaRPr b="1"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Sensor accuracy problems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Network reliability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Data security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Maintenance costs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2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/>
              <a:t>Future Improvements</a:t>
            </a:r>
            <a:endParaRPr b="1" sz="18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License plate recognition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Automatic payment systems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sz="1800"/>
              <a:t>Integration with smart cities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</a:t>
            </a:r>
            <a:endParaRPr/>
          </a:p>
        </p:txBody>
      </p:sp>
      <p:sp>
        <p:nvSpPr>
          <p:cNvPr id="161" name="Google Shape;161;p2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IoT-based smart parking provides an efficient solution to modern parking problems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It combines sensors, communication technologies and cloud systems to create a smarter transportation </a:t>
            </a:r>
            <a:r>
              <a:rPr lang="en"/>
              <a:t>environment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